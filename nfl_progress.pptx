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82" autoAdjust="0"/>
  </p:normalViewPr>
  <p:slideViewPr>
    <p:cSldViewPr snapToGrid="0">
      <p:cViewPr>
        <p:scale>
          <a:sx n="78" d="100"/>
          <a:sy n="78" d="100"/>
        </p:scale>
        <p:origin x="543"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38E3F7-5159-4165-ACF3-EA43F6C0117D}"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07BCE-6D3A-4F0E-B78E-A42DD96BA31D}" type="slidenum">
              <a:rPr lang="en-US" smtClean="0"/>
              <a:t>‹#›</a:t>
            </a:fld>
            <a:endParaRPr lang="en-US"/>
          </a:p>
        </p:txBody>
      </p:sp>
    </p:spTree>
    <p:extLst>
      <p:ext uri="{BB962C8B-B14F-4D97-AF65-F5344CB8AC3E}">
        <p14:creationId xmlns:p14="http://schemas.microsoft.com/office/powerpoint/2010/main" val="394280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C07BCE-6D3A-4F0E-B78E-A42DD96BA31D}" type="slidenum">
              <a:rPr lang="en-US" smtClean="0"/>
              <a:t>4</a:t>
            </a:fld>
            <a:endParaRPr lang="en-US"/>
          </a:p>
        </p:txBody>
      </p:sp>
    </p:spTree>
    <p:extLst>
      <p:ext uri="{BB962C8B-B14F-4D97-AF65-F5344CB8AC3E}">
        <p14:creationId xmlns:p14="http://schemas.microsoft.com/office/powerpoint/2010/main" val="3028188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regressive model (previous pos, </a:t>
            </a:r>
            <a:r>
              <a:rPr lang="en-US" dirty="0" err="1"/>
              <a:t>deriv</a:t>
            </a:r>
            <a:r>
              <a:rPr lang="en-US" dirty="0"/>
              <a:t> of previous pos, accel)</a:t>
            </a:r>
          </a:p>
          <a:p>
            <a:r>
              <a:rPr lang="en-US" dirty="0"/>
              <a:t>1 player in 1 game ^ (4 betas)</a:t>
            </a:r>
          </a:p>
          <a:p>
            <a:r>
              <a:rPr lang="en-US" dirty="0"/>
              <a:t>Multiple regression with everything ^ (compute derivatives) </a:t>
            </a:r>
          </a:p>
          <a:p>
            <a:endParaRPr lang="en-US" dirty="0"/>
          </a:p>
          <a:p>
            <a:r>
              <a:rPr lang="en-US" dirty="0"/>
              <a:t>X1 x2 …. Predict y (get data in right format)</a:t>
            </a:r>
          </a:p>
        </p:txBody>
      </p:sp>
      <p:sp>
        <p:nvSpPr>
          <p:cNvPr id="4" name="Slide Number Placeholder 3"/>
          <p:cNvSpPr>
            <a:spLocks noGrp="1"/>
          </p:cNvSpPr>
          <p:nvPr>
            <p:ph type="sldNum" sz="quarter" idx="5"/>
          </p:nvPr>
        </p:nvSpPr>
        <p:spPr/>
        <p:txBody>
          <a:bodyPr/>
          <a:lstStyle/>
          <a:p>
            <a:fld id="{BAC07BCE-6D3A-4F0E-B78E-A42DD96BA31D}" type="slidenum">
              <a:rPr lang="en-US" smtClean="0"/>
              <a:t>9</a:t>
            </a:fld>
            <a:endParaRPr lang="en-US"/>
          </a:p>
        </p:txBody>
      </p:sp>
    </p:spTree>
    <p:extLst>
      <p:ext uri="{BB962C8B-B14F-4D97-AF65-F5344CB8AC3E}">
        <p14:creationId xmlns:p14="http://schemas.microsoft.com/office/powerpoint/2010/main" val="3526077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C07BCE-6D3A-4F0E-B78E-A42DD96BA31D}" type="slidenum">
              <a:rPr lang="en-US" smtClean="0"/>
              <a:t>16</a:t>
            </a:fld>
            <a:endParaRPr lang="en-US"/>
          </a:p>
        </p:txBody>
      </p:sp>
    </p:spTree>
    <p:extLst>
      <p:ext uri="{BB962C8B-B14F-4D97-AF65-F5344CB8AC3E}">
        <p14:creationId xmlns:p14="http://schemas.microsoft.com/office/powerpoint/2010/main" val="100342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73F40-0806-B8CC-2B5A-71044EB08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3DFCD7-AFDA-EE2E-5C89-7F11035E37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9D0560-547C-D0A2-1772-0C414CD95284}"/>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D28527A1-5042-42E1-94D6-A5F6190D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8EB746-12D3-F9CF-C4A7-09D0C2969143}"/>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4279710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FC385-C235-AC4F-3B31-3E751D1AA7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7FCE2-55C9-AE3E-374E-592EF29020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E5FED3-BD9B-EE82-FBF5-C8A87544366B}"/>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BD71C130-3C26-CCAF-7211-FC1DEF68CC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B7C41E-4D2E-9C84-2E9B-7D2019EF61A7}"/>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2286460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1D85-AE77-6052-2F11-92D8F7444C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997D61-B320-F505-BEF0-E1714C5AF6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44D58B-E76E-EDA8-5C5B-2CD3748785AE}"/>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1D221166-DC58-E7A2-2080-FA4BEDDC9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A889D-7278-197C-E7F2-FD152B013974}"/>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294581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73AE3-9092-6569-47F3-1CB673CB78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05263A-EBF1-BD5E-2D07-BB0B0F18E4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11939E-4B85-3C29-D555-9321866DDC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82973D-2A61-12C2-FD6A-8A30E9E9E13E}"/>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6" name="Footer Placeholder 5">
            <a:extLst>
              <a:ext uri="{FF2B5EF4-FFF2-40B4-BE49-F238E27FC236}">
                <a16:creationId xmlns:a16="http://schemas.microsoft.com/office/drawing/2014/main" id="{4EF5D52B-6179-1749-92A0-E3DDD65EF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4CD6F7-7052-E4CE-C07C-7944BA015036}"/>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2597323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CD5BF-B54B-1140-2226-AD5AA08FF6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7D6F47-859C-E110-7461-DA8533680B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D13736-6918-65C8-4E44-202FA1ED43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4799D7-86C6-F4A2-420F-760429E5C8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D95504-D7B1-A00B-B8D9-D4CEBBF47D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AED03F-607F-A375-F760-C467DC5C0608}"/>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8" name="Footer Placeholder 7">
            <a:extLst>
              <a:ext uri="{FF2B5EF4-FFF2-40B4-BE49-F238E27FC236}">
                <a16:creationId xmlns:a16="http://schemas.microsoft.com/office/drawing/2014/main" id="{459597A5-43EF-074C-7A03-EC2483EF5E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B543E1-2911-C058-A88E-3DAEF542217B}"/>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2385017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9D97-2ED6-8FCB-5732-3FFA936E3F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74AAEF-A1A6-A33F-F8C8-3AC1C3335C63}"/>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4" name="Footer Placeholder 3">
            <a:extLst>
              <a:ext uri="{FF2B5EF4-FFF2-40B4-BE49-F238E27FC236}">
                <a16:creationId xmlns:a16="http://schemas.microsoft.com/office/drawing/2014/main" id="{C3B6A292-711E-CF15-BF14-CE9D3EE9C7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956D6-A5E6-1764-D06F-C42B2610B745}"/>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31557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B195E2-D110-8982-5F09-4E3D0B23D109}"/>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3" name="Footer Placeholder 2">
            <a:extLst>
              <a:ext uri="{FF2B5EF4-FFF2-40B4-BE49-F238E27FC236}">
                <a16:creationId xmlns:a16="http://schemas.microsoft.com/office/drawing/2014/main" id="{E067329A-8B04-6079-4B4F-B8E2AC4C0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94D3A9-C022-0E98-6026-0D932C2558A6}"/>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1424955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3698-0543-A282-A790-57AF17AA6A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F17029-8315-D29D-065F-9339D0BD41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A73605-AAD5-4157-149C-64DC9C04AA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742173-5FEC-4C4E-753A-896839EBE52C}"/>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6" name="Footer Placeholder 5">
            <a:extLst>
              <a:ext uri="{FF2B5EF4-FFF2-40B4-BE49-F238E27FC236}">
                <a16:creationId xmlns:a16="http://schemas.microsoft.com/office/drawing/2014/main" id="{A635A09D-8C97-C0AC-49B5-BA21DA2CF4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757527-3F40-A155-2116-FA630E3A47C1}"/>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59217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F178F-F9F4-7EE9-B45E-3156ACCE2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F75FF6-9E56-C114-79F2-970A73BCA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78A0D9-A5DB-E545-F81A-D9293B9A7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6549CE-CF2D-B5A5-898D-E08ACA4A10E3}"/>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6" name="Footer Placeholder 5">
            <a:extLst>
              <a:ext uri="{FF2B5EF4-FFF2-40B4-BE49-F238E27FC236}">
                <a16:creationId xmlns:a16="http://schemas.microsoft.com/office/drawing/2014/main" id="{F7336F74-AB19-FD00-5764-E07DD8C94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67B203-73FA-C7EA-227E-6A1CBFF36ADD}"/>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1140151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09590-CAB2-0A97-2C0D-5AA152964A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A9CEFA-0E4E-874B-0DDA-C7EFA9E3BA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3A6156-361C-1996-2BC1-20B813AF68E7}"/>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C2028A43-CDDC-FF8C-366D-6F04516AC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84C4E0-D0CA-ABF3-D85B-434D5944F8D2}"/>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1957757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E9E7E6-A675-A826-42BA-F01ACFA4BD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0BC0C4-CCD1-6F98-69D4-480EF0B03A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1003B1-7B04-6F85-D574-A508A0288613}"/>
              </a:ext>
            </a:extLst>
          </p:cNvPr>
          <p:cNvSpPr>
            <a:spLocks noGrp="1"/>
          </p:cNvSpPr>
          <p:nvPr>
            <p:ph type="dt" sz="half" idx="10"/>
          </p:nvPr>
        </p:nvSpPr>
        <p:spPr/>
        <p:txBody>
          <a:body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F5857C6D-8A6D-B7D0-3AC9-2D7DEF000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F529AB-3CB8-2465-5078-4296A5FD7E49}"/>
              </a:ext>
            </a:extLst>
          </p:cNvPr>
          <p:cNvSpPr>
            <a:spLocks noGrp="1"/>
          </p:cNvSpPr>
          <p:nvPr>
            <p:ph type="sldNum" sz="quarter" idx="12"/>
          </p:nvPr>
        </p:nvSpPr>
        <p:spPr/>
        <p:txBody>
          <a:bodyPr/>
          <a:lstStyle/>
          <a:p>
            <a:fld id="{6EE70354-13BC-4552-849D-E637CF01126E}" type="slidenum">
              <a:rPr lang="en-US" smtClean="0"/>
              <a:t>‹#›</a:t>
            </a:fld>
            <a:endParaRPr lang="en-US"/>
          </a:p>
        </p:txBody>
      </p:sp>
    </p:spTree>
    <p:extLst>
      <p:ext uri="{BB962C8B-B14F-4D97-AF65-F5344CB8AC3E}">
        <p14:creationId xmlns:p14="http://schemas.microsoft.com/office/powerpoint/2010/main" val="4148354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84615C-BDCB-A358-2356-3553B521AF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078659-B221-7DD1-7B9C-FFB7B964BF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08BC0-34F4-1CBC-BFC9-177B589D7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62C369-7AF3-492F-B6E6-C18714AB0AA8}" type="datetimeFigureOut">
              <a:rPr lang="en-US" smtClean="0"/>
              <a:t>10/23/2025</a:t>
            </a:fld>
            <a:endParaRPr lang="en-US"/>
          </a:p>
        </p:txBody>
      </p:sp>
      <p:sp>
        <p:nvSpPr>
          <p:cNvPr id="5" name="Footer Placeholder 4">
            <a:extLst>
              <a:ext uri="{FF2B5EF4-FFF2-40B4-BE49-F238E27FC236}">
                <a16:creationId xmlns:a16="http://schemas.microsoft.com/office/drawing/2014/main" id="{3C543B2C-47FD-3B99-9E1F-67CC075A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0E9B1D-49F7-859D-DBB1-0A2621EF0F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70354-13BC-4552-849D-E637CF01126E}" type="slidenum">
              <a:rPr lang="en-US" smtClean="0"/>
              <a:t>‹#›</a:t>
            </a:fld>
            <a:endParaRPr lang="en-US"/>
          </a:p>
        </p:txBody>
      </p:sp>
    </p:spTree>
    <p:extLst>
      <p:ext uri="{BB962C8B-B14F-4D97-AF65-F5344CB8AC3E}">
        <p14:creationId xmlns:p14="http://schemas.microsoft.com/office/powerpoint/2010/main" val="2721240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spn.co.uk/nfl/stats/player/_/lang/es/table/passing/sort/sacks/dir/desc"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Root_mean_square_deviation"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cottonjenn/NFL-Big-Data-Bowl-2026" TargetMode="External"/><Relationship Id="rId2" Type="http://schemas.openxmlformats.org/officeDocument/2006/relationships/hyperlink" Target="https://www.kaggle.com/competitions/nfl-big-data-bowl-2026-prediction/data"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E470E6-943F-078F-BECB-D8E48A6D4654}"/>
              </a:ext>
            </a:extLst>
          </p:cNvPr>
          <p:cNvSpPr>
            <a:spLocks noGrp="1"/>
          </p:cNvSpPr>
          <p:nvPr>
            <p:ph type="ctrTitle"/>
          </p:nvPr>
        </p:nvSpPr>
        <p:spPr>
          <a:xfrm>
            <a:off x="1113810" y="2960716"/>
            <a:ext cx="4036334" cy="2387600"/>
          </a:xfrm>
        </p:spPr>
        <p:txBody>
          <a:bodyPr anchor="t">
            <a:normAutofit/>
          </a:bodyPr>
          <a:lstStyle/>
          <a:p>
            <a:pPr algn="l"/>
            <a:r>
              <a:rPr lang="en-US" sz="5400"/>
              <a:t>NFL Big Data Bowl 2026</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of a football team&#10;&#10;AI-generated content may be incorrect.">
            <a:extLst>
              <a:ext uri="{FF2B5EF4-FFF2-40B4-BE49-F238E27FC236}">
                <a16:creationId xmlns:a16="http://schemas.microsoft.com/office/drawing/2014/main" id="{9FE38F92-39C0-ABDB-187F-220F7AB8CE7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957597" y="666728"/>
            <a:ext cx="5465791" cy="5465791"/>
          </a:xfrm>
          <a:prstGeom prst="rect">
            <a:avLst/>
          </a:prstGeom>
        </p:spPr>
      </p:pic>
    </p:spTree>
    <p:extLst>
      <p:ext uri="{BB962C8B-B14F-4D97-AF65-F5344CB8AC3E}">
        <p14:creationId xmlns:p14="http://schemas.microsoft.com/office/powerpoint/2010/main" val="357597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B701-CC6E-FB1F-C618-28A4E9B69DBF}"/>
              </a:ext>
            </a:extLst>
          </p:cNvPr>
          <p:cNvSpPr>
            <a:spLocks noGrp="1"/>
          </p:cNvSpPr>
          <p:nvPr>
            <p:ph type="title"/>
          </p:nvPr>
        </p:nvSpPr>
        <p:spPr/>
        <p:txBody>
          <a:bodyPr/>
          <a:lstStyle/>
          <a:p>
            <a:r>
              <a:rPr lang="en-US" dirty="0"/>
              <a:t>Deadlines</a:t>
            </a:r>
          </a:p>
        </p:txBody>
      </p:sp>
      <p:sp>
        <p:nvSpPr>
          <p:cNvPr id="3" name="Content Placeholder 2">
            <a:extLst>
              <a:ext uri="{FF2B5EF4-FFF2-40B4-BE49-F238E27FC236}">
                <a16:creationId xmlns:a16="http://schemas.microsoft.com/office/drawing/2014/main" id="{660F531C-4D7F-5972-DE98-3EF1014F9F04}"/>
              </a:ext>
            </a:extLst>
          </p:cNvPr>
          <p:cNvSpPr>
            <a:spLocks noGrp="1"/>
          </p:cNvSpPr>
          <p:nvPr>
            <p:ph idx="1"/>
          </p:nvPr>
        </p:nvSpPr>
        <p:spPr/>
        <p:txBody>
          <a:bodyPr/>
          <a:lstStyle/>
          <a:p>
            <a:pPr fontAlgn="base"/>
            <a:r>
              <a:rPr lang="en-US" b="1" dirty="0"/>
              <a:t>September 25, 2025</a:t>
            </a:r>
            <a:r>
              <a:rPr lang="en-US" dirty="0"/>
              <a:t> - Competition Start</a:t>
            </a:r>
          </a:p>
          <a:p>
            <a:pPr fontAlgn="base"/>
            <a:r>
              <a:rPr lang="en-US" b="1" dirty="0"/>
              <a:t>November 26, 2025</a:t>
            </a:r>
            <a:r>
              <a:rPr lang="en-US" dirty="0"/>
              <a:t> - Team Merger deadline. This is the last day participants may join or merge teams.</a:t>
            </a:r>
          </a:p>
          <a:p>
            <a:pPr fontAlgn="base"/>
            <a:r>
              <a:rPr lang="en-US" b="1" dirty="0"/>
              <a:t>November 26, 2025</a:t>
            </a:r>
            <a:r>
              <a:rPr lang="en-US" dirty="0"/>
              <a:t> - Entry deadline. You must accept the competition rules before this date in order to compete.</a:t>
            </a:r>
          </a:p>
          <a:p>
            <a:pPr fontAlgn="base"/>
            <a:r>
              <a:rPr lang="en-US" b="1" dirty="0"/>
              <a:t>December 3, 2025</a:t>
            </a:r>
            <a:r>
              <a:rPr lang="en-US" dirty="0"/>
              <a:t> - Final submission deadline.</a:t>
            </a:r>
          </a:p>
          <a:p>
            <a:pPr marL="0" indent="0">
              <a:buNone/>
            </a:pPr>
            <a:endParaRPr lang="en-US" dirty="0"/>
          </a:p>
        </p:txBody>
      </p:sp>
    </p:spTree>
    <p:extLst>
      <p:ext uri="{BB962C8B-B14F-4D97-AF65-F5344CB8AC3E}">
        <p14:creationId xmlns:p14="http://schemas.microsoft.com/office/powerpoint/2010/main" val="4124884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BDA31-3D1C-4F9A-9080-48591F3FA089}"/>
              </a:ext>
            </a:extLst>
          </p:cNvPr>
          <p:cNvSpPr>
            <a:spLocks noGrp="1"/>
          </p:cNvSpPr>
          <p:nvPr>
            <p:ph type="title"/>
          </p:nvPr>
        </p:nvSpPr>
        <p:spPr/>
        <p:txBody>
          <a:bodyPr/>
          <a:lstStyle/>
          <a:p>
            <a:r>
              <a:rPr lang="en-US" dirty="0"/>
              <a:t>Prompt</a:t>
            </a:r>
          </a:p>
        </p:txBody>
      </p:sp>
      <p:sp>
        <p:nvSpPr>
          <p:cNvPr id="3" name="Content Placeholder 2">
            <a:extLst>
              <a:ext uri="{FF2B5EF4-FFF2-40B4-BE49-F238E27FC236}">
                <a16:creationId xmlns:a16="http://schemas.microsoft.com/office/drawing/2014/main" id="{DD30FB74-E942-D851-1F3C-93799BB85FEC}"/>
              </a:ext>
            </a:extLst>
          </p:cNvPr>
          <p:cNvSpPr>
            <a:spLocks noGrp="1"/>
          </p:cNvSpPr>
          <p:nvPr>
            <p:ph idx="1"/>
          </p:nvPr>
        </p:nvSpPr>
        <p:spPr/>
        <p:txBody>
          <a:bodyPr>
            <a:normAutofit fontScale="92500"/>
          </a:bodyPr>
          <a:lstStyle/>
          <a:p>
            <a:pPr fontAlgn="base"/>
            <a:r>
              <a:rPr lang="en-US" dirty="0"/>
              <a:t>The 2026 Big Data Bowl is designed to help the National Football League better understand player movement during the pass play, starting with when the ball is thrown and ending when the ball is either caught or ruled incomplete. </a:t>
            </a:r>
          </a:p>
          <a:p>
            <a:pPr fontAlgn="base"/>
            <a:r>
              <a:rPr lang="en-US" dirty="0"/>
              <a:t>For the offensive team, this means focusing on the targeted receiver, whose job is to move towards the ball landing location in order to complete a catch. </a:t>
            </a:r>
          </a:p>
          <a:p>
            <a:pPr fontAlgn="base"/>
            <a:r>
              <a:rPr lang="en-US" dirty="0"/>
              <a:t>For the defensive team, who could have several players moving towards the ball, their jobs are to both prevent the offensive player from making a catch, while also going for the ball themselves. This year's Big Data Bowl asks our fans to help track the movement of these players.</a:t>
            </a:r>
          </a:p>
          <a:p>
            <a:pPr marL="0" indent="0">
              <a:buNone/>
            </a:pPr>
            <a:endParaRPr lang="en-US" dirty="0"/>
          </a:p>
        </p:txBody>
      </p:sp>
    </p:spTree>
    <p:extLst>
      <p:ext uri="{BB962C8B-B14F-4D97-AF65-F5344CB8AC3E}">
        <p14:creationId xmlns:p14="http://schemas.microsoft.com/office/powerpoint/2010/main" val="231879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C29E7-8C20-2E37-B0E2-D6FE5AF0B39E}"/>
              </a:ext>
            </a:extLst>
          </p:cNvPr>
          <p:cNvSpPr>
            <a:spLocks noGrp="1"/>
          </p:cNvSpPr>
          <p:nvPr>
            <p:ph type="title"/>
          </p:nvPr>
        </p:nvSpPr>
        <p:spPr/>
        <p:txBody>
          <a:bodyPr/>
          <a:lstStyle/>
          <a:p>
            <a:r>
              <a:rPr lang="en-US" b="1" i="1" dirty="0"/>
              <a:t>Competition specifics</a:t>
            </a:r>
            <a:endParaRPr lang="en-US" dirty="0"/>
          </a:p>
        </p:txBody>
      </p:sp>
      <p:sp>
        <p:nvSpPr>
          <p:cNvPr id="3" name="Content Placeholder 2">
            <a:extLst>
              <a:ext uri="{FF2B5EF4-FFF2-40B4-BE49-F238E27FC236}">
                <a16:creationId xmlns:a16="http://schemas.microsoft.com/office/drawing/2014/main" id="{220279C7-B19F-984C-E758-986E5B0B58D1}"/>
              </a:ext>
            </a:extLst>
          </p:cNvPr>
          <p:cNvSpPr>
            <a:spLocks noGrp="1"/>
          </p:cNvSpPr>
          <p:nvPr>
            <p:ph idx="1"/>
          </p:nvPr>
        </p:nvSpPr>
        <p:spPr/>
        <p:txBody>
          <a:bodyPr>
            <a:normAutofit lnSpcReduction="10000"/>
          </a:bodyPr>
          <a:lstStyle/>
          <a:p>
            <a:pPr fontAlgn="base"/>
            <a:r>
              <a:rPr lang="en-US" dirty="0"/>
              <a:t>In the NFL's tracking data, there are 10 frames per second. As a result, if a ball is in the air for 2.5 seconds, there will be 25 frames of location data to predict.</a:t>
            </a:r>
          </a:p>
          <a:p>
            <a:pPr fontAlgn="base"/>
            <a:r>
              <a:rPr lang="en-US" dirty="0"/>
              <a:t>Quick passes (less than half a second), deflected passes, and throwaway passes are dropped from the competition.</a:t>
            </a:r>
          </a:p>
          <a:p>
            <a:pPr fontAlgn="base"/>
            <a:r>
              <a:rPr lang="en-US" dirty="0"/>
              <a:t>Evaluation for the training data is based on historical data. Evaluation for the leaderboard is based on data that hasn't happened yet. </a:t>
            </a:r>
            <a:r>
              <a:rPr lang="en-US" dirty="0">
                <a:highlight>
                  <a:srgbClr val="FFFF00"/>
                </a:highlight>
              </a:rPr>
              <a:t>Specifically, we will be doing a live leaderboard covering the last five weeks of the 2025 NFL season.</a:t>
            </a:r>
          </a:p>
          <a:p>
            <a:pPr fontAlgn="base"/>
            <a:r>
              <a:rPr lang="en-US" dirty="0"/>
              <a:t>Submissions are evaluated using the </a:t>
            </a:r>
            <a:r>
              <a:rPr lang="en-US" dirty="0">
                <a:hlinkClick r:id="rId3"/>
              </a:rPr>
              <a:t>Root Mean Squared Error</a:t>
            </a:r>
            <a:r>
              <a:rPr lang="en-US" dirty="0"/>
              <a:t> between the predicted and the observed target.</a:t>
            </a:r>
          </a:p>
          <a:p>
            <a:pPr marL="0" indent="0">
              <a:buNone/>
            </a:pPr>
            <a:endParaRPr lang="en-US" dirty="0"/>
          </a:p>
        </p:txBody>
      </p:sp>
    </p:spTree>
    <p:extLst>
      <p:ext uri="{BB962C8B-B14F-4D97-AF65-F5344CB8AC3E}">
        <p14:creationId xmlns:p14="http://schemas.microsoft.com/office/powerpoint/2010/main" val="1859434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AD731-0BF3-5A98-AB65-1975B05781E1}"/>
              </a:ext>
            </a:extLst>
          </p:cNvPr>
          <p:cNvSpPr>
            <a:spLocks noGrp="1"/>
          </p:cNvSpPr>
          <p:nvPr>
            <p:ph type="title"/>
          </p:nvPr>
        </p:nvSpPr>
        <p:spPr/>
        <p:txBody>
          <a:bodyPr/>
          <a:lstStyle/>
          <a:p>
            <a:r>
              <a:rPr lang="en-US" b="1" dirty="0"/>
              <a:t>Forecasting Timeline:</a:t>
            </a:r>
            <a:endParaRPr lang="en-US" dirty="0"/>
          </a:p>
        </p:txBody>
      </p:sp>
      <p:sp>
        <p:nvSpPr>
          <p:cNvPr id="3" name="Content Placeholder 2">
            <a:extLst>
              <a:ext uri="{FF2B5EF4-FFF2-40B4-BE49-F238E27FC236}">
                <a16:creationId xmlns:a16="http://schemas.microsoft.com/office/drawing/2014/main" id="{C70C6CF5-B5D0-8FB7-EB64-824CC0DF4A04}"/>
              </a:ext>
            </a:extLst>
          </p:cNvPr>
          <p:cNvSpPr>
            <a:spLocks noGrp="1"/>
          </p:cNvSpPr>
          <p:nvPr>
            <p:ph idx="1"/>
          </p:nvPr>
        </p:nvSpPr>
        <p:spPr/>
        <p:txBody>
          <a:bodyPr/>
          <a:lstStyle/>
          <a:p>
            <a:pPr fontAlgn="base"/>
            <a:r>
              <a:rPr lang="en-US" b="1" dirty="0"/>
              <a:t>December 4, 2025 - January 5, 2026</a:t>
            </a:r>
            <a:r>
              <a:rPr lang="en-US" dirty="0"/>
              <a:t> - Watch your results play out! The Kaggle Team will refresh the leaderboard throughout the competition at the conclusion of the prior week's NFL games (NFL games are typically played on Thursdays, Sundays, and Mondays). The first week of games scored begins with those played on December 4, December 7, and December 8. The final scheduled NFL game of the 2025-2026 regular season is Sunday, January 4, 2026.</a:t>
            </a:r>
          </a:p>
          <a:p>
            <a:pPr fontAlgn="base"/>
            <a:r>
              <a:rPr lang="en-US" b="1" dirty="0"/>
              <a:t>January 6, 2026</a:t>
            </a:r>
            <a:r>
              <a:rPr lang="en-US" dirty="0"/>
              <a:t>  - Competition end, results published</a:t>
            </a:r>
          </a:p>
          <a:p>
            <a:endParaRPr lang="en-US" dirty="0"/>
          </a:p>
        </p:txBody>
      </p:sp>
    </p:spTree>
    <p:extLst>
      <p:ext uri="{BB962C8B-B14F-4D97-AF65-F5344CB8AC3E}">
        <p14:creationId xmlns:p14="http://schemas.microsoft.com/office/powerpoint/2010/main" val="550463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15D44-0262-1F41-72F5-52F4659CA84D}"/>
              </a:ext>
            </a:extLst>
          </p:cNvPr>
          <p:cNvSpPr>
            <a:spLocks noGrp="1"/>
          </p:cNvSpPr>
          <p:nvPr>
            <p:ph type="title"/>
          </p:nvPr>
        </p:nvSpPr>
        <p:spPr/>
        <p:txBody>
          <a:bodyPr/>
          <a:lstStyle/>
          <a:p>
            <a:r>
              <a:rPr lang="en-US" b="1" dirty="0"/>
              <a:t>Prizes</a:t>
            </a:r>
            <a:endParaRPr lang="en-US" dirty="0"/>
          </a:p>
        </p:txBody>
      </p:sp>
      <p:sp>
        <p:nvSpPr>
          <p:cNvPr id="3" name="Content Placeholder 2">
            <a:extLst>
              <a:ext uri="{FF2B5EF4-FFF2-40B4-BE49-F238E27FC236}">
                <a16:creationId xmlns:a16="http://schemas.microsoft.com/office/drawing/2014/main" id="{22D8A552-6EEA-0B3C-247C-53C706339C00}"/>
              </a:ext>
            </a:extLst>
          </p:cNvPr>
          <p:cNvSpPr>
            <a:spLocks noGrp="1"/>
          </p:cNvSpPr>
          <p:nvPr>
            <p:ph idx="1"/>
          </p:nvPr>
        </p:nvSpPr>
        <p:spPr/>
        <p:txBody>
          <a:bodyPr/>
          <a:lstStyle/>
          <a:p>
            <a:pPr fontAlgn="base"/>
            <a:r>
              <a:rPr lang="en-US" dirty="0"/>
              <a:t>1st Place - $25,000</a:t>
            </a:r>
          </a:p>
          <a:p>
            <a:pPr fontAlgn="base"/>
            <a:r>
              <a:rPr lang="en-US" dirty="0"/>
              <a:t>2nd Place - $15,000</a:t>
            </a:r>
          </a:p>
          <a:p>
            <a:pPr fontAlgn="base"/>
            <a:r>
              <a:rPr lang="en-US" dirty="0"/>
              <a:t>3rd Place - $10,000</a:t>
            </a:r>
          </a:p>
          <a:p>
            <a:endParaRPr lang="en-US" dirty="0"/>
          </a:p>
        </p:txBody>
      </p:sp>
    </p:spTree>
    <p:extLst>
      <p:ext uri="{BB962C8B-B14F-4D97-AF65-F5344CB8AC3E}">
        <p14:creationId xmlns:p14="http://schemas.microsoft.com/office/powerpoint/2010/main" val="3958609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3C9D-8146-5F1F-F0B6-C0173C4A6E9E}"/>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BB0991B8-F571-BFFA-B843-C81A45A3C673}"/>
              </a:ext>
            </a:extLst>
          </p:cNvPr>
          <p:cNvSpPr>
            <a:spLocks noGrp="1"/>
          </p:cNvSpPr>
          <p:nvPr>
            <p:ph idx="1"/>
          </p:nvPr>
        </p:nvSpPr>
        <p:spPr/>
        <p:txBody>
          <a:bodyPr/>
          <a:lstStyle/>
          <a:p>
            <a:pPr fontAlgn="base"/>
            <a:r>
              <a:rPr lang="en-US" dirty="0"/>
              <a:t>Submissions to this competition must be made through Notebooks. In order for the "Submit" button to be active after a commit, the following conditions must be met:</a:t>
            </a:r>
          </a:p>
          <a:p>
            <a:pPr fontAlgn="base"/>
            <a:r>
              <a:rPr lang="en-US" dirty="0"/>
              <a:t>CPU Notebook &lt;= 9 hours run-time</a:t>
            </a:r>
          </a:p>
          <a:p>
            <a:pPr fontAlgn="base"/>
            <a:r>
              <a:rPr lang="en-US" dirty="0"/>
              <a:t>GPU Notebook &lt;= 9 hours run-time</a:t>
            </a:r>
          </a:p>
          <a:p>
            <a:pPr fontAlgn="base"/>
            <a:r>
              <a:rPr lang="en-US" dirty="0"/>
              <a:t>Internet access disabled</a:t>
            </a:r>
          </a:p>
          <a:p>
            <a:pPr fontAlgn="base"/>
            <a:r>
              <a:rPr lang="en-US" dirty="0"/>
              <a:t>External data is not allowed.</a:t>
            </a:r>
          </a:p>
          <a:p>
            <a:pPr fontAlgn="base"/>
            <a:r>
              <a:rPr lang="en-US" dirty="0"/>
              <a:t>Submission file must be named submission.csv</a:t>
            </a:r>
          </a:p>
          <a:p>
            <a:endParaRPr lang="en-US" dirty="0"/>
          </a:p>
        </p:txBody>
      </p:sp>
    </p:spTree>
    <p:extLst>
      <p:ext uri="{BB962C8B-B14F-4D97-AF65-F5344CB8AC3E}">
        <p14:creationId xmlns:p14="http://schemas.microsoft.com/office/powerpoint/2010/main" val="1682095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EA099-7093-F217-AFAA-8F0C05A7A6FC}"/>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02E9630A-383A-57AF-0BB2-AECE90982219}"/>
              </a:ext>
            </a:extLst>
          </p:cNvPr>
          <p:cNvSpPr>
            <a:spLocks noGrp="1"/>
          </p:cNvSpPr>
          <p:nvPr>
            <p:ph idx="1"/>
          </p:nvPr>
        </p:nvSpPr>
        <p:spPr/>
        <p:txBody>
          <a:bodyPr>
            <a:normAutofit fontScale="85000" lnSpcReduction="20000"/>
          </a:bodyPr>
          <a:lstStyle/>
          <a:p>
            <a:pPr fontAlgn="base"/>
            <a:r>
              <a:rPr lang="en-US" dirty="0"/>
              <a:t>In the Prediction Competition of the Big Data Bowl, participants are tasked with predicting player movement with the ball in the air. Specifically, the NFL is sharing data before the ball is thrown (including the Next Gen Stats tracking data), and stopping the play the moment the quarterback releases the ball. In addition to the pre-pass tracking data, we are providing participants with which offensive player was targeted (</a:t>
            </a:r>
            <a:r>
              <a:rPr lang="en-US" dirty="0" err="1"/>
              <a:t>e.g</a:t>
            </a:r>
            <a:r>
              <a:rPr lang="en-US" dirty="0"/>
              <a:t>, the targeted receiver) and the landing location of the pass.</a:t>
            </a:r>
          </a:p>
          <a:p>
            <a:pPr fontAlgn="base"/>
            <a:r>
              <a:rPr lang="en-US" dirty="0"/>
              <a:t>generate prediction models for player movement during the frames when the ball is in the air. </a:t>
            </a:r>
            <a:endParaRPr lang="en-US" dirty="0">
              <a:hlinkClick r:id="rId2"/>
            </a:endParaRPr>
          </a:p>
          <a:p>
            <a:r>
              <a:rPr lang="en-US" dirty="0">
                <a:hlinkClick r:id="rId2"/>
              </a:rPr>
              <a:t>https://www.kaggle.com/competitions/nfl-big-data-bowl-2026-prediction/data</a:t>
            </a:r>
            <a:r>
              <a:rPr lang="en-US" dirty="0"/>
              <a:t> </a:t>
            </a:r>
          </a:p>
          <a:p>
            <a:endParaRPr lang="en-US" dirty="0"/>
          </a:p>
          <a:p>
            <a:r>
              <a:rPr lang="en-US" dirty="0">
                <a:hlinkClick r:id="rId3"/>
              </a:rPr>
              <a:t>https://github.com/cottonjenn/NFL-Big-Data-Bowl-2026</a:t>
            </a:r>
            <a:r>
              <a:rPr lang="en-US" dirty="0"/>
              <a:t> </a:t>
            </a:r>
          </a:p>
        </p:txBody>
      </p:sp>
    </p:spTree>
    <p:extLst>
      <p:ext uri="{BB962C8B-B14F-4D97-AF65-F5344CB8AC3E}">
        <p14:creationId xmlns:p14="http://schemas.microsoft.com/office/powerpoint/2010/main" val="2785949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C527F-081A-F639-8174-D6AF897F6428}"/>
              </a:ext>
            </a:extLst>
          </p:cNvPr>
          <p:cNvSpPr>
            <a:spLocks noGrp="1"/>
          </p:cNvSpPr>
          <p:nvPr>
            <p:ph type="title"/>
          </p:nvPr>
        </p:nvSpPr>
        <p:spPr/>
        <p:txBody>
          <a:bodyPr/>
          <a:lstStyle/>
          <a:p>
            <a:r>
              <a:rPr lang="en-US" dirty="0"/>
              <a:t>Other’s current scores</a:t>
            </a:r>
          </a:p>
        </p:txBody>
      </p:sp>
      <p:sp>
        <p:nvSpPr>
          <p:cNvPr id="3" name="Content Placeholder 2">
            <a:extLst>
              <a:ext uri="{FF2B5EF4-FFF2-40B4-BE49-F238E27FC236}">
                <a16:creationId xmlns:a16="http://schemas.microsoft.com/office/drawing/2014/main" id="{695D4803-A626-E213-974E-72AF14BB3A7F}"/>
              </a:ext>
            </a:extLst>
          </p:cNvPr>
          <p:cNvSpPr>
            <a:spLocks noGrp="1"/>
          </p:cNvSpPr>
          <p:nvPr>
            <p:ph idx="1"/>
          </p:nvPr>
        </p:nvSpPr>
        <p:spPr/>
        <p:txBody>
          <a:bodyPr/>
          <a:lstStyle/>
          <a:p>
            <a:r>
              <a:rPr lang="en-US" dirty="0"/>
              <a:t>0.6 bidirectional GRU neural network to model player movement sequences, leveraging temporal tracking data to predict post-pass positions</a:t>
            </a:r>
          </a:p>
          <a:p>
            <a:pPr lvl="1"/>
            <a:r>
              <a:rPr lang="en-US" dirty="0"/>
              <a:t>Looks both forward and backward in the sequence</a:t>
            </a:r>
          </a:p>
          <a:p>
            <a:pPr lvl="1"/>
            <a:r>
              <a:rPr lang="en-US" dirty="0"/>
              <a:t>Captures movement trends</a:t>
            </a:r>
          </a:p>
          <a:p>
            <a:pPr lvl="1"/>
            <a:r>
              <a:rPr lang="en-US" dirty="0"/>
              <a:t>Mimics real-world decision-making</a:t>
            </a:r>
          </a:p>
          <a:p>
            <a:r>
              <a:rPr lang="en-US" dirty="0"/>
              <a:t>Leaderboard = 0.501 (idk what he did but he’s a software engineer at google)</a:t>
            </a:r>
          </a:p>
        </p:txBody>
      </p:sp>
    </p:spTree>
    <p:extLst>
      <p:ext uri="{BB962C8B-B14F-4D97-AF65-F5344CB8AC3E}">
        <p14:creationId xmlns:p14="http://schemas.microsoft.com/office/powerpoint/2010/main" val="3122985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9FF835A-6FD4-E1E7-73B1-41E5402424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0322" y="306187"/>
            <a:ext cx="8074008" cy="5571067"/>
          </a:xfrm>
          <a:prstGeom prst="rect">
            <a:avLst/>
          </a:prstGeom>
        </p:spPr>
      </p:pic>
      <p:sp>
        <p:nvSpPr>
          <p:cNvPr id="6" name="TextBox 5">
            <a:extLst>
              <a:ext uri="{FF2B5EF4-FFF2-40B4-BE49-F238E27FC236}">
                <a16:creationId xmlns:a16="http://schemas.microsoft.com/office/drawing/2014/main" id="{EF8901D5-7B52-F558-B0A6-78066C343E0E}"/>
              </a:ext>
            </a:extLst>
          </p:cNvPr>
          <p:cNvSpPr txBox="1"/>
          <p:nvPr/>
        </p:nvSpPr>
        <p:spPr>
          <a:xfrm>
            <a:off x="1220449" y="5905482"/>
            <a:ext cx="9751101" cy="646331"/>
          </a:xfrm>
          <a:prstGeom prst="rect">
            <a:avLst/>
          </a:prstGeom>
          <a:noFill/>
        </p:spPr>
        <p:txBody>
          <a:bodyPr wrap="square" rtlCol="0">
            <a:spAutoFit/>
          </a:bodyPr>
          <a:lstStyle/>
          <a:p>
            <a:r>
              <a:rPr lang="en-US" dirty="0">
                <a:highlight>
                  <a:srgbClr val="FFFF00"/>
                </a:highlight>
              </a:rPr>
              <a:t>The auto-regressive model “looks backwards” one frame (or more) and says: “Given where I am now, how fast I’m going, and how I’m accelerating, where will I be in the next frame?”</a:t>
            </a:r>
          </a:p>
        </p:txBody>
      </p:sp>
    </p:spTree>
    <p:extLst>
      <p:ext uri="{BB962C8B-B14F-4D97-AF65-F5344CB8AC3E}">
        <p14:creationId xmlns:p14="http://schemas.microsoft.com/office/powerpoint/2010/main" val="3052457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white paper with black text and black text&#10;&#10;AI-generated content may be incorrect.">
            <a:extLst>
              <a:ext uri="{FF2B5EF4-FFF2-40B4-BE49-F238E27FC236}">
                <a16:creationId xmlns:a16="http://schemas.microsoft.com/office/drawing/2014/main" id="{556C90A6-D464-AE2D-4769-03E3B15A3A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948098"/>
            <a:ext cx="10905066" cy="4961802"/>
          </a:xfrm>
          <a:prstGeom prst="rect">
            <a:avLst/>
          </a:prstGeom>
        </p:spPr>
      </p:pic>
    </p:spTree>
    <p:extLst>
      <p:ext uri="{BB962C8B-B14F-4D97-AF65-F5344CB8AC3E}">
        <p14:creationId xmlns:p14="http://schemas.microsoft.com/office/powerpoint/2010/main" val="1407261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 program&#10;&#10;AI-generated content may be incorrect.">
            <a:extLst>
              <a:ext uri="{FF2B5EF4-FFF2-40B4-BE49-F238E27FC236}">
                <a16:creationId xmlns:a16="http://schemas.microsoft.com/office/drawing/2014/main" id="{BA18135B-38D0-5854-094C-6AFE5A94DF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9393" y="643466"/>
            <a:ext cx="10413214" cy="5571067"/>
          </a:xfrm>
          <a:prstGeom prst="rect">
            <a:avLst/>
          </a:prstGeom>
        </p:spPr>
      </p:pic>
    </p:spTree>
    <p:extLst>
      <p:ext uri="{BB962C8B-B14F-4D97-AF65-F5344CB8AC3E}">
        <p14:creationId xmlns:p14="http://schemas.microsoft.com/office/powerpoint/2010/main" val="236329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white background with black text&#10;&#10;AI-generated content may be incorrect.">
            <a:extLst>
              <a:ext uri="{FF2B5EF4-FFF2-40B4-BE49-F238E27FC236}">
                <a16:creationId xmlns:a16="http://schemas.microsoft.com/office/drawing/2014/main" id="{C5EF77C7-47FA-7B2D-785A-CD753495AC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1207093"/>
            <a:ext cx="10905066" cy="4443813"/>
          </a:xfrm>
          <a:prstGeom prst="rect">
            <a:avLst/>
          </a:prstGeom>
        </p:spPr>
      </p:pic>
    </p:spTree>
    <p:extLst>
      <p:ext uri="{BB962C8B-B14F-4D97-AF65-F5344CB8AC3E}">
        <p14:creationId xmlns:p14="http://schemas.microsoft.com/office/powerpoint/2010/main" val="310115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math problem&#10;&#10;AI-generated content may be incorrect.">
            <a:extLst>
              <a:ext uri="{FF2B5EF4-FFF2-40B4-BE49-F238E27FC236}">
                <a16:creationId xmlns:a16="http://schemas.microsoft.com/office/drawing/2014/main" id="{CBC0769B-C087-2508-7922-464C53FBB2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467" y="866308"/>
            <a:ext cx="10905066" cy="5125383"/>
          </a:xfrm>
          <a:prstGeom prst="rect">
            <a:avLst/>
          </a:prstGeom>
        </p:spPr>
      </p:pic>
    </p:spTree>
    <p:extLst>
      <p:ext uri="{BB962C8B-B14F-4D97-AF65-F5344CB8AC3E}">
        <p14:creationId xmlns:p14="http://schemas.microsoft.com/office/powerpoint/2010/main" val="996667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1BAFF9B1-B67F-1E00-2020-74F7C251B9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3356" y="643466"/>
            <a:ext cx="9605288" cy="5571067"/>
          </a:xfrm>
          <a:prstGeom prst="rect">
            <a:avLst/>
          </a:prstGeom>
        </p:spPr>
      </p:pic>
    </p:spTree>
    <p:extLst>
      <p:ext uri="{BB962C8B-B14F-4D97-AF65-F5344CB8AC3E}">
        <p14:creationId xmlns:p14="http://schemas.microsoft.com/office/powerpoint/2010/main" val="2486909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CC5DBD-0F80-D7DA-79E5-E785AFBE2154}"/>
              </a:ext>
            </a:extLst>
          </p:cNvPr>
          <p:cNvSpPr>
            <a:spLocks noGrp="1"/>
          </p:cNvSpPr>
          <p:nvPr>
            <p:ph idx="1"/>
          </p:nvPr>
        </p:nvSpPr>
        <p:spPr>
          <a:xfrm>
            <a:off x="630936" y="2807208"/>
            <a:ext cx="3429000" cy="3410712"/>
          </a:xfrm>
        </p:spPr>
        <p:txBody>
          <a:bodyPr anchor="t">
            <a:normAutofit/>
          </a:bodyPr>
          <a:lstStyle/>
          <a:p>
            <a:pPr marL="0" indent="0">
              <a:buNone/>
            </a:pPr>
            <a:r>
              <a:rPr lang="en-US" sz="2200" dirty="0">
                <a:solidFill>
                  <a:srgbClr val="FF0000"/>
                </a:solidFill>
              </a:rPr>
              <a:t>First simple linear model: </a:t>
            </a:r>
          </a:p>
          <a:p>
            <a:pPr marL="0" indent="0" latinLnBrk="1">
              <a:buNone/>
            </a:pPr>
            <a:r>
              <a:rPr lang="en-US" sz="2200" dirty="0">
                <a:solidFill>
                  <a:srgbClr val="FF0000"/>
                </a:solidFill>
              </a:rPr>
              <a:t>RMSE x: 7.445942  </a:t>
            </a:r>
            <a:r>
              <a:rPr lang="en-US" sz="2200" dirty="0" err="1">
                <a:solidFill>
                  <a:srgbClr val="FF0000"/>
                </a:solidFill>
              </a:rPr>
              <a:t>yrds</a:t>
            </a:r>
            <a:endParaRPr lang="en-US" sz="2200" dirty="0">
              <a:solidFill>
                <a:srgbClr val="FF0000"/>
              </a:solidFill>
            </a:endParaRPr>
          </a:p>
          <a:p>
            <a:pPr marL="0" indent="0" latinLnBrk="1">
              <a:buNone/>
            </a:pPr>
            <a:r>
              <a:rPr lang="en-US" sz="2200" dirty="0">
                <a:solidFill>
                  <a:srgbClr val="FF0000"/>
                </a:solidFill>
              </a:rPr>
              <a:t>RMSE y: 4.636064 </a:t>
            </a:r>
          </a:p>
          <a:p>
            <a:pPr marL="0" indent="0" latinLnBrk="1">
              <a:buNone/>
            </a:pPr>
            <a:r>
              <a:rPr lang="en-US" sz="2200" dirty="0">
                <a:solidFill>
                  <a:srgbClr val="FF0000"/>
                </a:solidFill>
              </a:rPr>
              <a:t>Overall RMSE: 8.771268 </a:t>
            </a:r>
          </a:p>
          <a:p>
            <a:pPr marL="0" indent="0">
              <a:buNone/>
            </a:pPr>
            <a:endParaRPr lang="en-US" sz="2200" dirty="0">
              <a:solidFill>
                <a:srgbClr val="FF0000"/>
              </a:solidFill>
            </a:endParaRPr>
          </a:p>
        </p:txBody>
      </p:sp>
      <p:pic>
        <p:nvPicPr>
          <p:cNvPr id="5" name="Picture 4" descr="A white sheet with black text&#10;&#10;AI-generated content may be incorrect.">
            <a:extLst>
              <a:ext uri="{FF2B5EF4-FFF2-40B4-BE49-F238E27FC236}">
                <a16:creationId xmlns:a16="http://schemas.microsoft.com/office/drawing/2014/main" id="{02E090C4-3B5F-9759-DDB0-96A0353BA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6012" y="640080"/>
            <a:ext cx="6720287" cy="5577840"/>
          </a:xfrm>
          <a:prstGeom prst="rect">
            <a:avLst/>
          </a:prstGeom>
        </p:spPr>
      </p:pic>
    </p:spTree>
    <p:extLst>
      <p:ext uri="{BB962C8B-B14F-4D97-AF65-F5344CB8AC3E}">
        <p14:creationId xmlns:p14="http://schemas.microsoft.com/office/powerpoint/2010/main" val="722241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BB820-DA22-7BD6-8164-34803DED27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31933C-335D-1B95-149A-7DEB5CF7D3F1}"/>
              </a:ext>
            </a:extLst>
          </p:cNvPr>
          <p:cNvSpPr>
            <a:spLocks noGrp="1"/>
          </p:cNvSpPr>
          <p:nvPr>
            <p:ph idx="1"/>
          </p:nvPr>
        </p:nvSpPr>
        <p:spPr/>
        <p:txBody>
          <a:bodyPr>
            <a:normAutofit lnSpcReduction="10000"/>
          </a:bodyPr>
          <a:lstStyle/>
          <a:p>
            <a:r>
              <a:rPr lang="en-US" dirty="0"/>
              <a:t>Based on your dataset (</a:t>
            </a:r>
            <a:r>
              <a:rPr lang="en-US" dirty="0" err="1"/>
              <a:t>play_input</a:t>
            </a:r>
            <a:r>
              <a:rPr lang="en-US" dirty="0"/>
              <a:t>), useful additional features include:</a:t>
            </a:r>
          </a:p>
          <a:p>
            <a:r>
              <a:rPr lang="en-US" b="1" dirty="0"/>
              <a:t>Player orientation &amp; direction</a:t>
            </a:r>
            <a:r>
              <a:rPr lang="en-US" dirty="0"/>
              <a:t>: o, </a:t>
            </a:r>
            <a:r>
              <a:rPr lang="en-US" dirty="0" err="1"/>
              <a:t>dir</a:t>
            </a:r>
            <a:endParaRPr lang="en-US" dirty="0"/>
          </a:p>
          <a:p>
            <a:r>
              <a:rPr lang="en-US" b="1" dirty="0"/>
              <a:t>Player role/position</a:t>
            </a:r>
            <a:r>
              <a:rPr lang="en-US" dirty="0"/>
              <a:t>: </a:t>
            </a:r>
            <a:r>
              <a:rPr lang="en-US" dirty="0" err="1"/>
              <a:t>player_role</a:t>
            </a:r>
            <a:r>
              <a:rPr lang="en-US" dirty="0"/>
              <a:t>, </a:t>
            </a:r>
            <a:r>
              <a:rPr lang="en-US" dirty="0" err="1"/>
              <a:t>player_position</a:t>
            </a:r>
            <a:r>
              <a:rPr lang="en-US" dirty="0"/>
              <a:t> (categorical)</a:t>
            </a:r>
          </a:p>
          <a:p>
            <a:r>
              <a:rPr lang="en-US" b="1" dirty="0"/>
              <a:t>Play context</a:t>
            </a:r>
            <a:r>
              <a:rPr lang="en-US" dirty="0"/>
              <a:t>: </a:t>
            </a:r>
            <a:r>
              <a:rPr lang="en-US" dirty="0" err="1"/>
              <a:t>play_direction</a:t>
            </a:r>
            <a:endParaRPr lang="en-US" dirty="0"/>
          </a:p>
          <a:p>
            <a:r>
              <a:rPr lang="en-US" b="1" dirty="0"/>
              <a:t>Ball landing position</a:t>
            </a:r>
            <a:r>
              <a:rPr lang="en-US" dirty="0"/>
              <a:t>: </a:t>
            </a:r>
            <a:r>
              <a:rPr lang="en-US" dirty="0" err="1"/>
              <a:t>ball_land_x</a:t>
            </a:r>
            <a:r>
              <a:rPr lang="en-US" dirty="0"/>
              <a:t>, </a:t>
            </a:r>
            <a:r>
              <a:rPr lang="en-US" dirty="0" err="1"/>
              <a:t>ball_land_y</a:t>
            </a:r>
            <a:endParaRPr lang="en-US" dirty="0"/>
          </a:p>
          <a:p>
            <a:r>
              <a:rPr lang="en-US" b="1" dirty="0"/>
              <a:t>Previous velocities/accelerations</a:t>
            </a:r>
            <a:r>
              <a:rPr lang="en-US" dirty="0"/>
              <a:t>: </a:t>
            </a:r>
            <a:r>
              <a:rPr lang="en-US" dirty="0" err="1"/>
              <a:t>vx</a:t>
            </a:r>
            <a:r>
              <a:rPr lang="en-US" dirty="0"/>
              <a:t>, </a:t>
            </a:r>
            <a:r>
              <a:rPr lang="en-US" dirty="0" err="1"/>
              <a:t>vy</a:t>
            </a:r>
            <a:r>
              <a:rPr lang="en-US" dirty="0"/>
              <a:t>, ax, ay (already included)</a:t>
            </a:r>
          </a:p>
          <a:p>
            <a:r>
              <a:rPr lang="en-US" dirty="0"/>
              <a:t>We will also include </a:t>
            </a:r>
            <a:r>
              <a:rPr lang="en-US" b="1" dirty="0"/>
              <a:t>lagged features</a:t>
            </a:r>
            <a:r>
              <a:rPr lang="en-US" dirty="0"/>
              <a:t> from previous frames (t-1, t-2) to capture motion history.</a:t>
            </a:r>
          </a:p>
          <a:p>
            <a:endParaRPr lang="en-US" dirty="0"/>
          </a:p>
        </p:txBody>
      </p:sp>
    </p:spTree>
    <p:extLst>
      <p:ext uri="{BB962C8B-B14F-4D97-AF65-F5344CB8AC3E}">
        <p14:creationId xmlns:p14="http://schemas.microsoft.com/office/powerpoint/2010/main" val="1442272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program&#10;&#10;AI-generated content may be incorrect.">
            <a:extLst>
              <a:ext uri="{FF2B5EF4-FFF2-40B4-BE49-F238E27FC236}">
                <a16:creationId xmlns:a16="http://schemas.microsoft.com/office/drawing/2014/main" id="{BB652982-67DE-844C-111F-2909F5B54B23}"/>
              </a:ext>
            </a:extLst>
          </p:cNvPr>
          <p:cNvPicPr>
            <a:picLocks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77270" y="185493"/>
            <a:ext cx="6514571" cy="6487013"/>
          </a:xfrm>
        </p:spPr>
      </p:pic>
      <p:pic>
        <p:nvPicPr>
          <p:cNvPr id="7" name="Picture 6" descr="A math equations on a white background&#10;&#10;AI-generated content may be incorrect.">
            <a:extLst>
              <a:ext uri="{FF2B5EF4-FFF2-40B4-BE49-F238E27FC236}">
                <a16:creationId xmlns:a16="http://schemas.microsoft.com/office/drawing/2014/main" id="{B301687B-3B5B-2B0B-69AC-A03F8B535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5216" y="565338"/>
            <a:ext cx="6514571" cy="1413688"/>
          </a:xfrm>
          <a:prstGeom prst="rect">
            <a:avLst/>
          </a:prstGeom>
        </p:spPr>
      </p:pic>
      <p:sp>
        <p:nvSpPr>
          <p:cNvPr id="13" name="TextBox 12">
            <a:extLst>
              <a:ext uri="{FF2B5EF4-FFF2-40B4-BE49-F238E27FC236}">
                <a16:creationId xmlns:a16="http://schemas.microsoft.com/office/drawing/2014/main" id="{485EE188-3864-7292-E026-D19A28ACFDFE}"/>
              </a:ext>
            </a:extLst>
          </p:cNvPr>
          <p:cNvSpPr txBox="1"/>
          <p:nvPr/>
        </p:nvSpPr>
        <p:spPr>
          <a:xfrm>
            <a:off x="8398996" y="2546408"/>
            <a:ext cx="3574122" cy="1015663"/>
          </a:xfrm>
          <a:prstGeom prst="rect">
            <a:avLst/>
          </a:prstGeom>
          <a:noFill/>
        </p:spPr>
        <p:txBody>
          <a:bodyPr wrap="square" rtlCol="0">
            <a:spAutoFit/>
          </a:bodyPr>
          <a:lstStyle/>
          <a:p>
            <a:pPr marL="285750" indent="-285750">
              <a:buFontTx/>
              <a:buChar char="-"/>
            </a:pPr>
            <a:r>
              <a:rPr lang="en-US" sz="1200" i="1" dirty="0"/>
              <a:t>Frame 1 predictions don’t rely on lag features</a:t>
            </a:r>
          </a:p>
          <a:p>
            <a:pPr marL="285750" indent="-285750">
              <a:buFontTx/>
              <a:buChar char="-"/>
            </a:pPr>
            <a:r>
              <a:rPr lang="en-US" sz="1200" i="1" dirty="0"/>
              <a:t>Frame 2 predictions only use lag -1</a:t>
            </a:r>
          </a:p>
          <a:p>
            <a:pPr marL="285750" indent="-285750">
              <a:buFontTx/>
              <a:buChar char="-"/>
            </a:pPr>
            <a:r>
              <a:rPr lang="en-US" sz="1200" i="1" dirty="0"/>
              <a:t>Frame 3+ predictions use lag -1 and lag -2 all categorical variables and momentum features are included</a:t>
            </a:r>
          </a:p>
        </p:txBody>
      </p:sp>
      <p:sp>
        <p:nvSpPr>
          <p:cNvPr id="14" name="Content Placeholder 2">
            <a:extLst>
              <a:ext uri="{FF2B5EF4-FFF2-40B4-BE49-F238E27FC236}">
                <a16:creationId xmlns:a16="http://schemas.microsoft.com/office/drawing/2014/main" id="{3EB047C3-38A7-2AE8-478F-7E9BD8AE0E2C}"/>
              </a:ext>
            </a:extLst>
          </p:cNvPr>
          <p:cNvSpPr txBox="1">
            <a:spLocks/>
          </p:cNvSpPr>
          <p:nvPr/>
        </p:nvSpPr>
        <p:spPr>
          <a:xfrm>
            <a:off x="431879" y="1585962"/>
            <a:ext cx="3861283" cy="3410712"/>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srgbClr val="FF0000"/>
                </a:solidFill>
              </a:rPr>
              <a:t>Second advanced model: </a:t>
            </a:r>
          </a:p>
          <a:p>
            <a:pPr marL="0" indent="0" latinLnBrk="1">
              <a:buNone/>
            </a:pPr>
            <a:r>
              <a:rPr lang="en-US" sz="1400" b="1" dirty="0">
                <a:solidFill>
                  <a:srgbClr val="FF0000"/>
                </a:solidFill>
              </a:rPr>
              <a:t>RMSE x: 7.44558 </a:t>
            </a:r>
            <a:r>
              <a:rPr lang="en-US" sz="1400" b="1" dirty="0" err="1">
                <a:solidFill>
                  <a:srgbClr val="FF0000"/>
                </a:solidFill>
              </a:rPr>
              <a:t>yrds</a:t>
            </a:r>
            <a:endParaRPr lang="en-US" sz="1400" b="1" dirty="0">
              <a:solidFill>
                <a:srgbClr val="FF0000"/>
              </a:solidFill>
            </a:endParaRPr>
          </a:p>
          <a:p>
            <a:pPr marL="0" indent="0" latinLnBrk="1">
              <a:buNone/>
            </a:pPr>
            <a:r>
              <a:rPr lang="en-US" sz="1400" b="1" dirty="0">
                <a:solidFill>
                  <a:srgbClr val="FF0000"/>
                </a:solidFill>
              </a:rPr>
              <a:t>RMSE y: 4.634004</a:t>
            </a:r>
          </a:p>
          <a:p>
            <a:pPr marL="0" indent="0" latinLnBrk="1">
              <a:buNone/>
            </a:pPr>
            <a:r>
              <a:rPr lang="en-US" sz="1400" b="1" dirty="0">
                <a:solidFill>
                  <a:srgbClr val="FF0000"/>
                </a:solidFill>
              </a:rPr>
              <a:t>Overall RMSE: 8.769872 </a:t>
            </a:r>
          </a:p>
          <a:p>
            <a:pPr marL="0" indent="0" latinLnBrk="1">
              <a:buNone/>
            </a:pPr>
            <a:endParaRPr lang="en-US" sz="1400" b="1" dirty="0">
              <a:solidFill>
                <a:srgbClr val="FF0000"/>
              </a:solidFill>
            </a:endParaRPr>
          </a:p>
          <a:p>
            <a:pPr latinLnBrk="1"/>
            <a:r>
              <a:rPr lang="en-US" sz="1400" b="1" dirty="0">
                <a:solidFill>
                  <a:srgbClr val="FF0000"/>
                </a:solidFill>
              </a:rPr>
              <a:t>Test more lag frames (3 or 4 to see if momentum over longer sequences helps</a:t>
            </a:r>
          </a:p>
          <a:p>
            <a:pPr latinLnBrk="1"/>
            <a:r>
              <a:rPr lang="en-US" sz="1400" b="1" dirty="0">
                <a:solidFill>
                  <a:srgbClr val="FF0000"/>
                </a:solidFill>
              </a:rPr>
              <a:t>Try non-linear models like random forests or </a:t>
            </a:r>
            <a:r>
              <a:rPr lang="en-US" sz="1400" b="1" dirty="0" err="1">
                <a:solidFill>
                  <a:srgbClr val="FF0000"/>
                </a:solidFill>
              </a:rPr>
              <a:t>gradiant</a:t>
            </a:r>
            <a:r>
              <a:rPr lang="en-US" sz="1400" b="1" dirty="0">
                <a:solidFill>
                  <a:srgbClr val="FF0000"/>
                </a:solidFill>
              </a:rPr>
              <a:t> boosting for potentially better predictions</a:t>
            </a:r>
          </a:p>
          <a:p>
            <a:pPr latinLnBrk="1"/>
            <a:r>
              <a:rPr lang="en-US" sz="1400" b="1" dirty="0">
                <a:solidFill>
                  <a:srgbClr val="FF0000"/>
                </a:solidFill>
              </a:rPr>
              <a:t>Visualize predictions vs actual to see if certain positions or play types have larger errors</a:t>
            </a:r>
          </a:p>
          <a:p>
            <a:pPr marL="0" indent="0">
              <a:buNone/>
            </a:pPr>
            <a:endParaRPr lang="en-US" sz="1400" b="1" dirty="0">
              <a:solidFill>
                <a:srgbClr val="FF0000"/>
              </a:solidFill>
            </a:endParaRPr>
          </a:p>
        </p:txBody>
      </p:sp>
    </p:spTree>
    <p:extLst>
      <p:ext uri="{BB962C8B-B14F-4D97-AF65-F5344CB8AC3E}">
        <p14:creationId xmlns:p14="http://schemas.microsoft.com/office/powerpoint/2010/main" val="2375247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DB3AF-BF35-D327-C567-F0F7E63AF567}"/>
              </a:ext>
            </a:extLst>
          </p:cNvPr>
          <p:cNvSpPr>
            <a:spLocks noGrp="1"/>
          </p:cNvSpPr>
          <p:nvPr>
            <p:ph type="title"/>
          </p:nvPr>
        </p:nvSpPr>
        <p:spPr/>
        <p:txBody>
          <a:bodyPr/>
          <a:lstStyle/>
          <a:p>
            <a:r>
              <a:rPr lang="en-US" dirty="0"/>
              <a:t>Important note!</a:t>
            </a:r>
          </a:p>
        </p:txBody>
      </p:sp>
      <p:sp>
        <p:nvSpPr>
          <p:cNvPr id="3" name="Content Placeholder 2">
            <a:extLst>
              <a:ext uri="{FF2B5EF4-FFF2-40B4-BE49-F238E27FC236}">
                <a16:creationId xmlns:a16="http://schemas.microsoft.com/office/drawing/2014/main" id="{95817D11-0B5A-FBE2-1A48-8C405603A147}"/>
              </a:ext>
            </a:extLst>
          </p:cNvPr>
          <p:cNvSpPr>
            <a:spLocks noGrp="1"/>
          </p:cNvSpPr>
          <p:nvPr>
            <p:ph idx="1"/>
          </p:nvPr>
        </p:nvSpPr>
        <p:spPr/>
        <p:txBody>
          <a:bodyPr>
            <a:normAutofit lnSpcReduction="10000"/>
          </a:bodyPr>
          <a:lstStyle/>
          <a:p>
            <a:r>
              <a:rPr lang="en-US" dirty="0"/>
              <a:t>We are just fitting per-play models, so </a:t>
            </a:r>
            <a:r>
              <a:rPr lang="en-US" dirty="0" err="1"/>
              <a:t>play_direction</a:t>
            </a:r>
            <a:r>
              <a:rPr lang="en-US" dirty="0"/>
              <a:t>, </a:t>
            </a:r>
            <a:r>
              <a:rPr lang="en-US" dirty="0" err="1"/>
              <a:t>player_role</a:t>
            </a:r>
            <a:r>
              <a:rPr lang="en-US" dirty="0"/>
              <a:t>, and </a:t>
            </a:r>
            <a:r>
              <a:rPr lang="en-US" dirty="0" err="1"/>
              <a:t>player_position</a:t>
            </a:r>
            <a:r>
              <a:rPr lang="en-US" dirty="0"/>
              <a:t> are all the same BUT this is so crucial and will need to be added for the across player models. </a:t>
            </a:r>
          </a:p>
          <a:p>
            <a:endParaRPr lang="en-US" dirty="0"/>
          </a:p>
          <a:p>
            <a:r>
              <a:rPr lang="en-US" dirty="0"/>
              <a:t>Instead of fitting per-player models, fit </a:t>
            </a:r>
            <a:r>
              <a:rPr lang="en-US" b="1" dirty="0"/>
              <a:t>one model for all players</a:t>
            </a:r>
            <a:r>
              <a:rPr lang="en-US" dirty="0"/>
              <a:t> and include these categorical variables as </a:t>
            </a:r>
            <a:r>
              <a:rPr lang="en-US" b="1" dirty="0"/>
              <a:t>global predictors</a:t>
            </a:r>
            <a:r>
              <a:rPr lang="en-US" dirty="0"/>
              <a:t>. They now influence all players’ trajectories appropriately:</a:t>
            </a:r>
          </a:p>
          <a:p>
            <a:r>
              <a:rPr lang="en-US" dirty="0"/>
              <a:t>Ex code:</a:t>
            </a:r>
          </a:p>
          <a:p>
            <a:pPr marL="0" indent="0">
              <a:buNone/>
            </a:pPr>
            <a:r>
              <a:rPr lang="en-US" dirty="0" err="1"/>
              <a:t>x_next</a:t>
            </a:r>
            <a:r>
              <a:rPr lang="en-US" dirty="0"/>
              <a:t> ~ x + y + </a:t>
            </a:r>
            <a:r>
              <a:rPr lang="en-US" dirty="0" err="1"/>
              <a:t>vx</a:t>
            </a:r>
            <a:r>
              <a:rPr lang="en-US" dirty="0"/>
              <a:t> + </a:t>
            </a:r>
            <a:r>
              <a:rPr lang="en-US" dirty="0" err="1"/>
              <a:t>vy</a:t>
            </a:r>
            <a:r>
              <a:rPr lang="en-US" dirty="0"/>
              <a:t> + ax + ay + x_lag1 + ... + o + </a:t>
            </a:r>
            <a:r>
              <a:rPr lang="en-US" dirty="0" err="1"/>
              <a:t>dir</a:t>
            </a:r>
            <a:r>
              <a:rPr lang="en-US" dirty="0"/>
              <a:t> + </a:t>
            </a:r>
            <a:r>
              <a:rPr lang="en-US" dirty="0" err="1"/>
              <a:t>player_role</a:t>
            </a:r>
            <a:r>
              <a:rPr lang="en-US" dirty="0"/>
              <a:t> + </a:t>
            </a:r>
            <a:r>
              <a:rPr lang="en-US" dirty="0" err="1"/>
              <a:t>player_position</a:t>
            </a:r>
            <a:r>
              <a:rPr lang="en-US" dirty="0"/>
              <a:t> + </a:t>
            </a:r>
            <a:r>
              <a:rPr lang="en-US" dirty="0" err="1"/>
              <a:t>play_direction</a:t>
            </a:r>
            <a:r>
              <a:rPr lang="en-US" dirty="0"/>
              <a:t> + </a:t>
            </a:r>
            <a:r>
              <a:rPr lang="en-US" dirty="0" err="1"/>
              <a:t>ball_land_x</a:t>
            </a:r>
            <a:r>
              <a:rPr lang="en-US" dirty="0"/>
              <a:t> + </a:t>
            </a:r>
            <a:r>
              <a:rPr lang="en-US" dirty="0" err="1"/>
              <a:t>ball_land_y</a:t>
            </a:r>
            <a:endParaRPr lang="en-US" dirty="0"/>
          </a:p>
          <a:p>
            <a:pPr marL="0" indent="0">
              <a:buNone/>
            </a:pPr>
            <a:endParaRPr lang="en-US" dirty="0"/>
          </a:p>
        </p:txBody>
      </p:sp>
    </p:spTree>
    <p:extLst>
      <p:ext uri="{BB962C8B-B14F-4D97-AF65-F5344CB8AC3E}">
        <p14:creationId xmlns:p14="http://schemas.microsoft.com/office/powerpoint/2010/main" val="1256974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C0F2-DAB8-D3A1-270E-95BD7663CD8A}"/>
              </a:ext>
            </a:extLst>
          </p:cNvPr>
          <p:cNvSpPr>
            <a:spLocks noGrp="1"/>
          </p:cNvSpPr>
          <p:nvPr>
            <p:ph type="title"/>
          </p:nvPr>
        </p:nvSpPr>
        <p:spPr/>
        <p:txBody>
          <a:bodyPr/>
          <a:lstStyle/>
          <a:p>
            <a:r>
              <a:rPr lang="en-US" dirty="0"/>
              <a:t>Additional prompt ideas</a:t>
            </a:r>
          </a:p>
        </p:txBody>
      </p:sp>
      <p:sp>
        <p:nvSpPr>
          <p:cNvPr id="3" name="Content Placeholder 2">
            <a:extLst>
              <a:ext uri="{FF2B5EF4-FFF2-40B4-BE49-F238E27FC236}">
                <a16:creationId xmlns:a16="http://schemas.microsoft.com/office/drawing/2014/main" id="{C114B287-3AA5-368D-CED8-2C3C2336F712}"/>
              </a:ext>
            </a:extLst>
          </p:cNvPr>
          <p:cNvSpPr>
            <a:spLocks noGrp="1"/>
          </p:cNvSpPr>
          <p:nvPr>
            <p:ph idx="1"/>
          </p:nvPr>
        </p:nvSpPr>
        <p:spPr/>
        <p:txBody>
          <a:bodyPr>
            <a:normAutofit fontScale="25000" lnSpcReduction="20000"/>
          </a:bodyPr>
          <a:lstStyle/>
          <a:p>
            <a:r>
              <a:rPr lang="en-US" b="1" dirty="0"/>
              <a:t>1️⃣ Expanding Lag Frames</a:t>
            </a:r>
          </a:p>
          <a:p>
            <a:r>
              <a:rPr lang="en-US" b="1" dirty="0"/>
              <a:t>Prompt idea:</a:t>
            </a:r>
            <a:endParaRPr lang="en-US" dirty="0"/>
          </a:p>
          <a:p>
            <a:r>
              <a:rPr lang="en-US" dirty="0"/>
              <a:t>"I have a dataset of player positions with x, y, </a:t>
            </a:r>
            <a:r>
              <a:rPr lang="en-US" dirty="0" err="1"/>
              <a:t>vx</a:t>
            </a:r>
            <a:r>
              <a:rPr lang="en-US" dirty="0"/>
              <a:t>, </a:t>
            </a:r>
            <a:r>
              <a:rPr lang="en-US" dirty="0" err="1"/>
              <a:t>vy</a:t>
            </a:r>
            <a:r>
              <a:rPr lang="en-US" dirty="0"/>
              <a:t>, ax, ay, </a:t>
            </a:r>
            <a:r>
              <a:rPr lang="en-US" dirty="0" err="1"/>
              <a:t>frame_id</a:t>
            </a:r>
            <a:r>
              <a:rPr lang="en-US" dirty="0"/>
              <a:t>, </a:t>
            </a:r>
            <a:r>
              <a:rPr lang="en-US" dirty="0" err="1"/>
              <a:t>player_id</a:t>
            </a:r>
            <a:r>
              <a:rPr lang="en-US" dirty="0"/>
              <a:t>, and </a:t>
            </a:r>
            <a:r>
              <a:rPr lang="en-US" dirty="0" err="1"/>
              <a:t>play_id</a:t>
            </a:r>
            <a:r>
              <a:rPr lang="en-US" dirty="0"/>
              <a:t>. I am currently using 2 lag frames to predict the next x and y positions with a linear auto-regressive model. How can I modify the pipeline to include 3, 4, or more lag frames dynamically? Please provide an example in R that avoids NA values and works for the first few frames."</a:t>
            </a:r>
          </a:p>
          <a:p>
            <a:r>
              <a:rPr lang="en-US" b="1" dirty="0"/>
              <a:t>Variation for Python:</a:t>
            </a:r>
            <a:endParaRPr lang="en-US" dirty="0"/>
          </a:p>
          <a:p>
            <a:r>
              <a:rPr lang="en-US" dirty="0"/>
              <a:t>"I am predicting player movement in Python using Pandas. How can I automatically create features for n lag frames (positions, velocity, acceleration) for each player and play, without introducing </a:t>
            </a:r>
            <a:r>
              <a:rPr lang="en-US" dirty="0" err="1"/>
              <a:t>NaNs</a:t>
            </a:r>
            <a:r>
              <a:rPr lang="en-US" dirty="0"/>
              <a:t> for the first frames? Please show code using Pandas."</a:t>
            </a:r>
          </a:p>
          <a:p>
            <a:br>
              <a:rPr lang="en-US" dirty="0"/>
            </a:br>
            <a:endParaRPr lang="en-US" dirty="0"/>
          </a:p>
          <a:p>
            <a:r>
              <a:rPr lang="en-US" b="1" dirty="0"/>
              <a:t>2️⃣ Non-Linear Models (Random Forest, Gradient Boosting)</a:t>
            </a:r>
          </a:p>
          <a:p>
            <a:r>
              <a:rPr lang="en-US" b="1" dirty="0"/>
              <a:t>Prompt idea:</a:t>
            </a:r>
            <a:endParaRPr lang="en-US" dirty="0"/>
          </a:p>
          <a:p>
            <a:r>
              <a:rPr lang="en-US" dirty="0"/>
              <a:t>"I want to predict the next x and y positions of players in a football play. Currently, I use a linear model with lagged positions, velocities, accelerations, and categorical variables like </a:t>
            </a:r>
            <a:r>
              <a:rPr lang="en-US" dirty="0" err="1"/>
              <a:t>player_role</a:t>
            </a:r>
            <a:r>
              <a:rPr lang="en-US" dirty="0"/>
              <a:t> and </a:t>
            </a:r>
            <a:r>
              <a:rPr lang="en-US" dirty="0" err="1"/>
              <a:t>player_position</a:t>
            </a:r>
            <a:r>
              <a:rPr lang="en-US" dirty="0"/>
              <a:t>. How can I implement a non-linear model using random forests or gradient boosting in R (or Python), making sure to handle lag features and categorical variables? Please include prediction and evaluation with RMSE."</a:t>
            </a:r>
          </a:p>
          <a:p>
            <a:r>
              <a:rPr lang="en-US" b="1" dirty="0"/>
              <a:t>Variation for experimentation:</a:t>
            </a:r>
            <a:endParaRPr lang="en-US" dirty="0"/>
          </a:p>
          <a:p>
            <a:r>
              <a:rPr lang="en-US" dirty="0"/>
              <a:t>"Show me how to train a gradient boosting model to predict the next frame's x and y positions using lagged features and contextual features. Include splitting by player or play, feature engineering, and evaluation using RMSE."</a:t>
            </a:r>
          </a:p>
          <a:p>
            <a:br>
              <a:rPr lang="en-US" dirty="0"/>
            </a:br>
            <a:endParaRPr lang="en-US" dirty="0"/>
          </a:p>
          <a:p>
            <a:r>
              <a:rPr lang="en-US" b="1" dirty="0"/>
              <a:t>3️⃣ Combining More Lag Frames + Non-Linear Models</a:t>
            </a:r>
          </a:p>
          <a:p>
            <a:r>
              <a:rPr lang="en-US" b="1" dirty="0"/>
              <a:t>Prompt idea:</a:t>
            </a:r>
            <a:endParaRPr lang="en-US" dirty="0"/>
          </a:p>
          <a:p>
            <a:r>
              <a:rPr lang="en-US" dirty="0"/>
              <a:t>"I want to build an advanced player tracking model that uses multiple past frames (lags 1–4) for position, velocity, and acceleration, and predicts future x and y. I also want to use a non-linear algorithm like </a:t>
            </a:r>
            <a:r>
              <a:rPr lang="en-US" dirty="0" err="1"/>
              <a:t>XGBoost</a:t>
            </a:r>
            <a:r>
              <a:rPr lang="en-US" dirty="0"/>
              <a:t> or random forest. Can you provide a full R or Python pipeline: feature creation, model training, per-player prediction, and RMSE evaluation?"</a:t>
            </a:r>
          </a:p>
          <a:p>
            <a:br>
              <a:rPr lang="en-US" dirty="0"/>
            </a:br>
            <a:endParaRPr lang="en-US" dirty="0"/>
          </a:p>
          <a:p>
            <a:r>
              <a:rPr lang="en-US" b="1" dirty="0"/>
              <a:t>4️⃣ Visual Analysis Prompts</a:t>
            </a:r>
          </a:p>
          <a:p>
            <a:r>
              <a:rPr lang="en-US" b="1" dirty="0"/>
              <a:t>Prompt idea:</a:t>
            </a:r>
            <a:endParaRPr lang="en-US" dirty="0"/>
          </a:p>
          <a:p>
            <a:r>
              <a:rPr lang="en-US" dirty="0"/>
              <a:t>"After predicting player positions with multiple lag frames and a non-linear model, I want to visualize predicted vs actual trajectories on a football field using ggplot2 (R) or matplotlib/</a:t>
            </a:r>
            <a:r>
              <a:rPr lang="en-US" dirty="0" err="1"/>
              <a:t>plotly</a:t>
            </a:r>
            <a:r>
              <a:rPr lang="en-US" dirty="0"/>
              <a:t> (Python). Can you give a template that shows each player’s path and highlights prediction errors?"</a:t>
            </a:r>
          </a:p>
          <a:p>
            <a:endParaRPr lang="en-US" dirty="0"/>
          </a:p>
        </p:txBody>
      </p:sp>
    </p:spTree>
    <p:extLst>
      <p:ext uri="{BB962C8B-B14F-4D97-AF65-F5344CB8AC3E}">
        <p14:creationId xmlns:p14="http://schemas.microsoft.com/office/powerpoint/2010/main" val="874148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7E5A5-B301-0642-C78D-A674C12999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4008F3-891A-5CCE-F83A-749CE519D109}"/>
              </a:ext>
            </a:extLst>
          </p:cNvPr>
          <p:cNvSpPr>
            <a:spLocks noGrp="1"/>
          </p:cNvSpPr>
          <p:nvPr>
            <p:ph idx="1"/>
          </p:nvPr>
        </p:nvSpPr>
        <p:spPr/>
        <p:txBody>
          <a:bodyPr/>
          <a:lstStyle/>
          <a:p>
            <a:r>
              <a:rPr lang="en-US" dirty="0"/>
              <a:t>Use quarterback drop back (</a:t>
            </a:r>
            <a:r>
              <a:rPr lang="en-US" dirty="0" err="1"/>
              <a:t>s,a,o,d</a:t>
            </a:r>
            <a:r>
              <a:rPr lang="en-US" dirty="0"/>
              <a:t>) to predict WR and S + other pos</a:t>
            </a:r>
          </a:p>
          <a:p>
            <a:r>
              <a:rPr lang="en-US" dirty="0"/>
              <a:t>Use all frames in linear model and see how much it helps</a:t>
            </a:r>
          </a:p>
        </p:txBody>
      </p:sp>
    </p:spTree>
    <p:extLst>
      <p:ext uri="{BB962C8B-B14F-4D97-AF65-F5344CB8AC3E}">
        <p14:creationId xmlns:p14="http://schemas.microsoft.com/office/powerpoint/2010/main" val="1007713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498</TotalTime>
  <Words>1572</Words>
  <Application>Microsoft Office PowerPoint</Application>
  <PresentationFormat>Widescreen</PresentationFormat>
  <Paragraphs>100</Paragraphs>
  <Slides>21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NFL Big Data Bowl 2026</vt:lpstr>
      <vt:lpstr>Deadlines</vt:lpstr>
      <vt:lpstr>Prompt</vt:lpstr>
      <vt:lpstr>Competition specifics</vt:lpstr>
      <vt:lpstr>Forecasting Timeline:</vt:lpstr>
      <vt:lpstr>Prizes</vt:lpstr>
      <vt:lpstr>Requirements</vt:lpstr>
      <vt:lpstr>Data</vt:lpstr>
      <vt:lpstr>Other’s current scores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Important note!</vt:lpstr>
      <vt:lpstr>Additional prompt ideas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Jenna Worthen</dc:creator>
  <cp:lastModifiedBy>Jenna Worthen</cp:lastModifiedBy>
  <cp:revision>15</cp:revision>
  <dcterms:created xsi:type="dcterms:W3CDTF">2025-10-20T00:33:34Z</dcterms:created>
  <dcterms:modified xsi:type="dcterms:W3CDTF">2025-10-23T18:23:42Z</dcterms:modified>
</cp:coreProperties>
</file>